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3"/>
  </p:notesMasterIdLst>
  <p:sldIdLst>
    <p:sldId id="2584" r:id="rId5"/>
    <p:sldId id="2612" r:id="rId6"/>
    <p:sldId id="2623" r:id="rId7"/>
    <p:sldId id="2590" r:id="rId8"/>
    <p:sldId id="2616" r:id="rId9"/>
    <p:sldId id="2615" r:id="rId10"/>
    <p:sldId id="2592" r:id="rId11"/>
    <p:sldId id="2593" r:id="rId12"/>
    <p:sldId id="2644" r:id="rId13"/>
    <p:sldId id="2594" r:id="rId14"/>
    <p:sldId id="2635" r:id="rId15"/>
    <p:sldId id="2636" r:id="rId16"/>
    <p:sldId id="2619" r:id="rId17"/>
    <p:sldId id="2595" r:id="rId18"/>
    <p:sldId id="2637" r:id="rId19"/>
    <p:sldId id="2596" r:id="rId20"/>
    <p:sldId id="2620" r:id="rId21"/>
    <p:sldId id="2598" r:id="rId22"/>
    <p:sldId id="2624" r:id="rId23"/>
    <p:sldId id="2603" r:id="rId24"/>
    <p:sldId id="2638" r:id="rId25"/>
    <p:sldId id="2608" r:id="rId26"/>
    <p:sldId id="2609" r:id="rId27"/>
    <p:sldId id="2641" r:id="rId28"/>
    <p:sldId id="2610" r:id="rId29"/>
    <p:sldId id="2639" r:id="rId30"/>
    <p:sldId id="2640" r:id="rId31"/>
    <p:sldId id="2632" r:id="rId32"/>
    <p:sldId id="2599" r:id="rId33"/>
    <p:sldId id="2633" r:id="rId34"/>
    <p:sldId id="2634" r:id="rId35"/>
    <p:sldId id="2628" r:id="rId36"/>
    <p:sldId id="2621" r:id="rId37"/>
    <p:sldId id="2591" r:id="rId38"/>
    <p:sldId id="2642" r:id="rId39"/>
    <p:sldId id="2643" r:id="rId40"/>
    <p:sldId id="2601" r:id="rId41"/>
    <p:sldId id="262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33BCA893-82A6-44FF-BCB8-7B207907A8CC}">
          <p14:sldIdLst>
            <p14:sldId id="2584"/>
            <p14:sldId id="2612"/>
          </p14:sldIdLst>
        </p14:section>
        <p14:section name="Introduction" id="{DA6F3EBC-B313-4352-A3B9-31502B373C68}">
          <p14:sldIdLst>
            <p14:sldId id="2623"/>
            <p14:sldId id="2590"/>
            <p14:sldId id="2616"/>
          </p14:sldIdLst>
        </p14:section>
        <p14:section name="Architecture and Design" id="{F15839C0-CD38-4C4A-B0EA-FA25751C8815}">
          <p14:sldIdLst>
            <p14:sldId id="2615"/>
            <p14:sldId id="2592"/>
            <p14:sldId id="2593"/>
          </p14:sldIdLst>
        </p14:section>
        <p14:section name="Data Collection and Flow" id="{18D7B77C-3A14-4C31-BA04-14BC8C6E565C}">
          <p14:sldIdLst>
            <p14:sldId id="2644"/>
            <p14:sldId id="2594"/>
            <p14:sldId id="2635"/>
            <p14:sldId id="2636"/>
          </p14:sldIdLst>
        </p14:section>
        <p14:section name="Methodology" id="{755D77B9-D0DD-49D4-BCA2-8D981C426D49}">
          <p14:sldIdLst>
            <p14:sldId id="2619"/>
            <p14:sldId id="2595"/>
            <p14:sldId id="2637"/>
            <p14:sldId id="2596"/>
            <p14:sldId id="2620"/>
            <p14:sldId id="2598"/>
          </p14:sldIdLst>
        </p14:section>
        <p14:section name="Visualization" id="{21A71C60-CC08-4FB9-AFFE-175B76EA48C2}">
          <p14:sldIdLst>
            <p14:sldId id="2624"/>
            <p14:sldId id="2603"/>
            <p14:sldId id="2638"/>
            <p14:sldId id="2608"/>
            <p14:sldId id="2609"/>
            <p14:sldId id="2641"/>
            <p14:sldId id="2610"/>
            <p14:sldId id="2639"/>
            <p14:sldId id="2640"/>
          </p14:sldIdLst>
        </p14:section>
        <p14:section name="Key Performance Benchmarks" id="{3FEB424E-AA27-4B80-9B03-6664A2DB08B8}">
          <p14:sldIdLst>
            <p14:sldId id="2632"/>
            <p14:sldId id="2599"/>
            <p14:sldId id="2633"/>
            <p14:sldId id="2634"/>
            <p14:sldId id="2628"/>
          </p14:sldIdLst>
        </p14:section>
        <p14:section name="Summary" id="{EFD2DA68-C293-40A9-9C62-FD83A44DE355}">
          <p14:sldIdLst>
            <p14:sldId id="2621"/>
            <p14:sldId id="2591"/>
            <p14:sldId id="2642"/>
            <p14:sldId id="2643"/>
            <p14:sldId id="2601"/>
            <p14:sldId id="26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4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0" y="9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0DAF-5209-4F41-9AA0-D8354B5C74F5}" type="datetimeFigureOut"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70EAA-B7B9-4B2E-AA52-A006B93F4DB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90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BF7C-8780-2FEA-45E3-868A187A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1A1D8-21F0-054D-43CC-CA1A5CFD1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BB279-6E7A-622B-5729-8DB5F4BC1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B925B-E928-99AE-79C5-00A1E5FD3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F8251-94EA-460B-B40D-814396263C95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80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70EAA-B7B9-4B2E-AA52-A006B93F4D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9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12FF42-78AA-43B7-BE38-617D6A986F75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976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F8D0-0E9B-4650-859F-69E8A62E8B3F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61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724" y="1480212"/>
            <a:ext cx="3918954" cy="2273637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 algn="ctr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272" y="4232388"/>
            <a:ext cx="3703859" cy="15427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58748" y="465265"/>
            <a:ext cx="7240587" cy="592746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EF5918-5053-4743-83B7-4EAD76501314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71CA13-2095-558D-E0DC-1576A14BBE72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59F346-B80F-F5BC-5D76-9443FA0031B4}"/>
              </a:ext>
            </a:extLst>
          </p:cNvPr>
          <p:cNvCxnSpPr>
            <a:cxnSpLocks/>
          </p:cNvCxnSpPr>
          <p:nvPr/>
        </p:nvCxnSpPr>
        <p:spPr>
          <a:xfrm>
            <a:off x="495157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363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495F72-74F9-4C7D-96DC-BB7900DFF168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38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160261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931483"/>
            <a:ext cx="10813067" cy="61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0"/>
            <a:ext cx="11268845" cy="5019190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6383D2-C802-4DD2-AEDD-7474238763C3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5019261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885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6430" y="1226087"/>
            <a:ext cx="7961965" cy="3290611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6941" y="5812260"/>
            <a:ext cx="6838118" cy="70294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77732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278C13-F8B8-4237-9811-6A882F130BDA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469467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2B7528-295D-CD0F-0521-B5C01EAC12DD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6261A6-5928-598A-5A46-6855CE4DF282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26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5FD76-1DE6-4A1C-9609-D2819734F8F3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968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0265" y="1400657"/>
            <a:ext cx="6291470" cy="3290611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tx2">
                    <a:lumMod val="90000"/>
                    <a:alpha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6941" y="5812260"/>
            <a:ext cx="6838118" cy="70294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fld id="{014AE7A1-FDDE-474D-BCD9-88FCF250514D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469467"/>
            <a:ext cx="12192000" cy="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860F39-D33B-13B7-DD5E-58C8CE6DCE69}"/>
              </a:ext>
            </a:extLst>
          </p:cNvPr>
          <p:cNvCxnSpPr>
            <a:cxnSpLocks/>
          </p:cNvCxnSpPr>
          <p:nvPr/>
        </p:nvCxnSpPr>
        <p:spPr>
          <a:xfrm>
            <a:off x="2317750" y="0"/>
            <a:ext cx="0" cy="685800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17974A-33A9-A10C-D982-114045377C2E}"/>
              </a:ext>
            </a:extLst>
          </p:cNvPr>
          <p:cNvCxnSpPr>
            <a:cxnSpLocks/>
          </p:cNvCxnSpPr>
          <p:nvPr/>
        </p:nvCxnSpPr>
        <p:spPr>
          <a:xfrm>
            <a:off x="9874250" y="0"/>
            <a:ext cx="0" cy="685800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837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C6904D-FBDC-4E1E-863E-C45FAD9DD85B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12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BE01F4-F5E6-FB52-8FEA-5927DFC8AA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68607"/>
            <a:ext cx="8932653" cy="345056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lumMod val="90000"/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5570C2-432E-4238-AE9E-852D979BFC70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5FFB35-3AE5-1BED-838E-1C6BC98721B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179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A4DEF6-D0A5-424B-A38E-B8028C0E0D08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26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8E6B6D-2F30-4BA9-2B55-62940E3BFC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118941"/>
            <a:ext cx="6565392" cy="520051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57689" y="532759"/>
            <a:ext cx="3877110" cy="546343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46AD62-1AB6-4EFB-8DBD-6D00C7B465F9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740049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767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09C6DF-0139-4F07-BF9C-4309D0C9DCA6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607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167" y="860128"/>
            <a:ext cx="6353666" cy="1711083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6618" y="3155112"/>
            <a:ext cx="5578764" cy="2442120"/>
          </a:xfrm>
        </p:spPr>
        <p:txBody>
          <a:bodyPr anchor="t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0FAFF-A1AC-4B36-A522-D3A2BD4C7FC3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82F24D-05C9-B6C7-3A94-C06130BFE9B2}"/>
              </a:ext>
            </a:extLst>
          </p:cNvPr>
          <p:cNvCxnSpPr>
            <a:cxnSpLocks/>
          </p:cNvCxnSpPr>
          <p:nvPr/>
        </p:nvCxnSpPr>
        <p:spPr>
          <a:xfrm flipH="1">
            <a:off x="0" y="27831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932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711" y="845617"/>
            <a:ext cx="5897862" cy="143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4711" y="2910484"/>
            <a:ext cx="5897862" cy="3066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E660-7124-4C3A-8AAA-B41D80ACF1A9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AB0C69-C415-7A7B-376B-69AA51CE6A5E}"/>
              </a:ext>
            </a:extLst>
          </p:cNvPr>
          <p:cNvCxnSpPr>
            <a:cxnSpLocks/>
          </p:cNvCxnSpPr>
          <p:nvPr/>
        </p:nvCxnSpPr>
        <p:spPr>
          <a:xfrm flipH="1">
            <a:off x="0" y="253652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FDABE4-7855-701A-F892-8CE2C6CE02A5}"/>
              </a:ext>
            </a:extLst>
          </p:cNvPr>
          <p:cNvCxnSpPr>
            <a:cxnSpLocks/>
          </p:cNvCxnSpPr>
          <p:nvPr/>
        </p:nvCxnSpPr>
        <p:spPr>
          <a:xfrm>
            <a:off x="301955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79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F4876-ABF6-46E9-AABB-9093F4FF9830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006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3119"/>
            <a:ext cx="4152377" cy="3434657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602" y="1153691"/>
            <a:ext cx="5496988" cy="4568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CF1F-58DF-43AF-921D-9C5F21D87011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EA2129-EA91-4982-7EB1-1F590E56CA3B}"/>
              </a:ext>
            </a:extLst>
          </p:cNvPr>
          <p:cNvCxnSpPr>
            <a:cxnSpLocks/>
          </p:cNvCxnSpPr>
          <p:nvPr/>
        </p:nvCxnSpPr>
        <p:spPr>
          <a:xfrm>
            <a:off x="532310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97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49F7-D424-4C48-9F1A-F9E6A6464624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616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280573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388" y="720473"/>
            <a:ext cx="7072408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28057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38B1-676A-4930-9A2B-D361CEEB3399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1402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444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0E1D3-9897-4F62-B20F-820B96903029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574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784"/>
            <a:ext cx="6781799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84832"/>
            <a:ext cx="6781800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8244" y="1"/>
            <a:ext cx="444179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0969-82E1-4DC2-8A32-95F8999F3C79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75020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10512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503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D3FE-7D00-42C8-AAA1-7B40C480DCD1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51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9B79-F7D7-4EC9-B39C-00EEEABA80A1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623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423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4886539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89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C259-8124-4DF9-9476-1C574CC8A380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908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661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CB73-7DFF-41E9-94AE-03DDC0983D5F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437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0" y="458144"/>
            <a:ext cx="3433926" cy="1681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22292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0" y="2276856"/>
            <a:ext cx="3433926" cy="3785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6A9E-247B-42FF-94A5-087CF9B29B6E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72735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987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4089-B0B8-4924-B485-08424C78200C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3190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CB80-2CED-4065-90C6-0999AD9EE7FC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122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673" y="586591"/>
            <a:ext cx="2915036" cy="1600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186508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673" y="2714536"/>
            <a:ext cx="2915038" cy="32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374A5-F4AA-48A6-9C78-6905B67B6273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6711F-CD71-AB46-003C-BE1DB3B8E841}"/>
              </a:ext>
            </a:extLst>
          </p:cNvPr>
          <p:cNvCxnSpPr>
            <a:cxnSpLocks/>
          </p:cNvCxnSpPr>
          <p:nvPr/>
        </p:nvCxnSpPr>
        <p:spPr>
          <a:xfrm>
            <a:off x="818776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807C1-3535-030D-D48C-9F2B70401B10}"/>
              </a:ext>
            </a:extLst>
          </p:cNvPr>
          <p:cNvCxnSpPr>
            <a:cxnSpLocks/>
          </p:cNvCxnSpPr>
          <p:nvPr/>
        </p:nvCxnSpPr>
        <p:spPr>
          <a:xfrm flipH="1">
            <a:off x="8186508" y="2443138"/>
            <a:ext cx="4005492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633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36986"/>
            <a:ext cx="3985579" cy="139747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965"/>
            <a:ext cx="12191999" cy="476781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180" y="5054245"/>
            <a:ext cx="6376529" cy="131983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5D1F-FAB0-4D9D-B7BF-490C90B8E5BE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93C13E-01BF-7326-0714-59845741BBF3}"/>
              </a:ext>
            </a:extLst>
          </p:cNvPr>
          <p:cNvCxnSpPr>
            <a:cxnSpLocks/>
          </p:cNvCxnSpPr>
          <p:nvPr/>
        </p:nvCxnSpPr>
        <p:spPr>
          <a:xfrm flipH="1">
            <a:off x="0" y="475918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245A6F-9312-AEBD-1066-A68010EEF5A3}"/>
              </a:ext>
            </a:extLst>
          </p:cNvPr>
          <p:cNvCxnSpPr>
            <a:cxnSpLocks/>
          </p:cNvCxnSpPr>
          <p:nvPr/>
        </p:nvCxnSpPr>
        <p:spPr>
          <a:xfrm>
            <a:off x="4724925" y="4758846"/>
            <a:ext cx="0" cy="209915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6815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F935-567A-4AB6-A4C6-B3A3054E8F97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1419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413"/>
            <a:ext cx="3511296" cy="164574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7448" y="451414"/>
            <a:ext cx="7013448" cy="2215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2746159"/>
            <a:ext cx="354329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37594" y="2746159"/>
            <a:ext cx="1842115" cy="365125"/>
          </a:xfrm>
        </p:spPr>
        <p:txBody>
          <a:bodyPr/>
          <a:lstStyle/>
          <a:p>
            <a:fld id="{BF100A10-24AF-407C-B97C-359EEB8D1EF0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2746159"/>
            <a:ext cx="457200" cy="365125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182112"/>
            <a:ext cx="12191143" cy="367588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17499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E0C665-CD78-E346-994A-0AC535ACCC98}"/>
              </a:ext>
            </a:extLst>
          </p:cNvPr>
          <p:cNvCxnSpPr>
            <a:cxnSpLocks/>
          </p:cNvCxnSpPr>
          <p:nvPr/>
        </p:nvCxnSpPr>
        <p:spPr>
          <a:xfrm>
            <a:off x="4288536" y="0"/>
            <a:ext cx="0" cy="3182112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4021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81037"/>
            <a:ext cx="11277596" cy="1009652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098467"/>
            <a:ext cx="4415882" cy="4078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2581" y="1829880"/>
            <a:ext cx="6863265" cy="456608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1D8B-0329-44CA-97BE-DA70811A8630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5326714" y="1825625"/>
            <a:ext cx="0" cy="5032375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9AB141-EFC4-A843-71E7-C52C8709BA26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368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81037"/>
            <a:ext cx="11277595" cy="1009652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8467"/>
            <a:ext cx="6802582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6147" y="1829880"/>
            <a:ext cx="4441796" cy="456608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1EB5-723F-4AD6-AEC4-D406AB116579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750205" y="1825625"/>
            <a:ext cx="0" cy="5032375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9AB141-EFC4-A843-71E7-C52C8709BA26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8163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916D-ECC1-407F-9384-347E5A5D7944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5954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7072"/>
            <a:ext cx="4000500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7087"/>
            <a:ext cx="4922517" cy="454456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534" y="377072"/>
            <a:ext cx="614117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79CB6-58B7-4AEB-BE2A-306450DBAD2A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9497"/>
            <a:ext cx="464819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92251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135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24D50-69B4-493C-AABF-53036A8D79F6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896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C8F0CD-CD54-4D81-AA2E-F53EC757E087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389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9816A-24DB-A6D2-3F39-E78DC5E1C2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96" y="5248656"/>
            <a:ext cx="10579608" cy="896112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400" cap="all" spc="200" baseline="0" dirty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5300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7BF1D3-2990-4429-A9CB-0765BDF1B23D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C657CA-BC15-CFB3-68A2-CD405FBC42E3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258A7C-B0B2-E98B-CC50-E513F3F96778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39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DE1DC1-9689-2EE3-E7BA-1B5865E699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8209" y="5095152"/>
            <a:ext cx="8755582" cy="1397088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lang="en-US" sz="2600" cap="all" spc="100" baseline="0" dirty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5924" y="604476"/>
            <a:ext cx="10360152" cy="3886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6000" dirty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99BABC-AD7D-4A6D-A89B-3BB2921A5531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E840B4-4A86-E59D-DE37-6D68E8998743}"/>
              </a:ext>
            </a:extLst>
          </p:cNvPr>
          <p:cNvCxnSpPr>
            <a:cxnSpLocks/>
          </p:cNvCxnSpPr>
          <p:nvPr/>
        </p:nvCxnSpPr>
        <p:spPr>
          <a:xfrm flipH="1">
            <a:off x="0" y="4800185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4C1874-713F-9C70-0910-15468C71D94B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E3C4BC-AB49-4B2D-6D76-2DB06F19B146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190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5F8892-F2ED-BFCA-E7AB-85D6D27E49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809744"/>
            <a:ext cx="10817352" cy="132588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400" cap="all" spc="200" baseline="0" dirty="0">
                <a:solidFill>
                  <a:schemeClr val="tx2">
                    <a:alpha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603504"/>
            <a:ext cx="10817352" cy="3886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6000" dirty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FE32A-A87D-4DC3-874C-FBD040896932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C03FAC-E732-2A29-931B-DF10E16576A9}"/>
              </a:ext>
            </a:extLst>
          </p:cNvPr>
          <p:cNvCxnSpPr>
            <a:cxnSpLocks/>
          </p:cNvCxnSpPr>
          <p:nvPr/>
        </p:nvCxnSpPr>
        <p:spPr>
          <a:xfrm flipH="1">
            <a:off x="0" y="4567063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EAA9EA-F053-9082-1866-9E27466BAA2B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34D08-FFFD-5C50-9C95-E26621C9F10B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991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36278C-3666-418F-8843-DFD38DB3098D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498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EFC0D0B-DA30-766C-173E-0170DEC1DF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676" y="1069677"/>
            <a:ext cx="9290649" cy="474452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1pPr>
            <a:lvl2pPr marL="2286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2pPr>
            <a:lvl3pPr marL="4572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3pPr>
            <a:lvl4pPr marL="6858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4pPr>
            <a:lvl5pPr marL="9144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50C56A-CD5D-4BFA-97E5-381E40BD37FE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749579-0FDB-004C-88C7-AEAFA967138F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36D2D7-1E6C-18EB-97E2-3C716E213514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134195-89D3-0A49-21C0-FCE233C5FA6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06AC78-B01D-B856-062B-5BDFA424140A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8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4B8B42-1FAE-0461-C13E-F2663EC89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F456FA-CA72-4459-B86B-03B2C85DD46A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551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AF5849-739D-C101-47C3-B7745B65C3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1" y="726618"/>
            <a:ext cx="9057452" cy="395967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EC1153-D263-4C11-8011-CBFFD9730DCE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668AFA-4F03-20A8-1BA4-B3199B0ED0C7}"/>
              </a:ext>
            </a:extLst>
          </p:cNvPr>
          <p:cNvCxnSpPr>
            <a:cxnSpLocks/>
          </p:cNvCxnSpPr>
          <p:nvPr/>
        </p:nvCxnSpPr>
        <p:spPr>
          <a:xfrm flipH="1">
            <a:off x="0" y="528468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798B79-8105-6FCD-C65A-F6BE09F875EB}"/>
              </a:ext>
            </a:extLst>
          </p:cNvPr>
          <p:cNvCxnSpPr>
            <a:cxnSpLocks/>
          </p:cNvCxnSpPr>
          <p:nvPr/>
        </p:nvCxnSpPr>
        <p:spPr>
          <a:xfrm>
            <a:off x="10624726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580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2870C0-88BC-4B78-A088-30393EC7D39C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546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0E8326-1507-F48A-851B-53763210D1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7900414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7900416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tx2">
                    <a:alpha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9EA2AE-D036-4E26-95AB-9605EDE53986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7475CC-2E7D-619F-AFAD-0EB2BC1DFC40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81F4D6-9057-EF87-48BE-0C6D4ADC8BC6}"/>
              </a:ext>
            </a:extLst>
          </p:cNvPr>
          <p:cNvCxnSpPr>
            <a:cxnSpLocks/>
          </p:cNvCxnSpPr>
          <p:nvPr/>
        </p:nvCxnSpPr>
        <p:spPr>
          <a:xfrm>
            <a:off x="1033707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916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407D4A-1244-6A47-327B-CDB05AF702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7982709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7982712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3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99B03C-9B9E-4B25-B0F1-2ABF7EE05CC0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A83050-F737-4CAA-50C3-B1912F8DCD4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AC790E-B990-47FD-A7C4-38DEB7A38CA4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CD9DAA-71D0-AF79-A512-7D264779C222}"/>
              </a:ext>
            </a:extLst>
          </p:cNvPr>
          <p:cNvCxnSpPr>
            <a:cxnSpLocks/>
          </p:cNvCxnSpPr>
          <p:nvPr/>
        </p:nvCxnSpPr>
        <p:spPr>
          <a:xfrm>
            <a:off x="1033707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010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63E278-755B-41D3-7218-B797D9B5DF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488" y="4893472"/>
            <a:ext cx="8019287" cy="120557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5488" y="594360"/>
            <a:ext cx="8019288" cy="3236976"/>
          </a:xfrm>
        </p:spPr>
        <p:txBody>
          <a:bodyPr anchor="b">
            <a:normAutofit/>
          </a:bodyPr>
          <a:lstStyle>
            <a:lvl1pPr marL="182880" indent="-182880">
              <a:buNone/>
              <a:defRPr sz="36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6A855-EE76-45C6-B820-67541FFB5E07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A0B79A-2EB3-E6D5-B923-60D51965E7A7}"/>
              </a:ext>
            </a:extLst>
          </p:cNvPr>
          <p:cNvCxnSpPr>
            <a:cxnSpLocks/>
          </p:cNvCxnSpPr>
          <p:nvPr/>
        </p:nvCxnSpPr>
        <p:spPr>
          <a:xfrm flipH="1">
            <a:off x="0" y="436240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1507FC-FD8A-132E-6F82-1A96368D292F}"/>
              </a:ext>
            </a:extLst>
          </p:cNvPr>
          <p:cNvCxnSpPr>
            <a:cxnSpLocks/>
          </p:cNvCxnSpPr>
          <p:nvPr/>
        </p:nvCxnSpPr>
        <p:spPr>
          <a:xfrm>
            <a:off x="903719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781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F022F-161E-41B9-A1BC-CC85E43B1AF4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2330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8F49A-9797-4EFB-8F78-023201B418DD}" type="datetime1">
              <a:rPr lang="en-US" smtClean="0"/>
              <a:t>11/29/2025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8154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7D35-FD3E-408B-A06E-7ED09E94C083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765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BC47-E75B-4512-AE58-14F5144E068D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35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B5AB-0FA3-E8AE-A6A1-C03EE2DD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D3D71-61A7-7BE9-20ED-B5AF76B01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3840480" cy="397925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ED4A-75CE-22B6-973F-969688C90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51601" cy="55794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269-D6C6-3706-6E34-9B96440E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5825D-6882-CF7E-DED2-796EB50E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E953-C3C8-4A4B-8817-BB1E8DE8DAD2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61EE4-2972-F8D1-E2C0-577A67DE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5F8204-04DE-BDF1-25A8-C8850EC04A7C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0CCA0B-4B85-D092-C9D6-7644345E4BF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1642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64BF-25B8-DF5F-78A5-EF299DBC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6BD76-5832-C2AF-7743-B7CB3A9FD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73584"/>
            <a:ext cx="3840480" cy="38807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01BD91-BD6E-DEBA-3699-22D6D0CCE7F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542165"/>
            <a:ext cx="6466646" cy="531373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7AD9D-75CD-C3FA-F88F-4D8A87B72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D41FD-57A5-7CC9-58D3-3ACA2026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969BF-940B-4FBC-8397-235C5A271474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CC530-F0C1-526A-3F3A-EA8A7A29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332F2A-AF1E-7A2E-F872-24CEC59A2C2B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41477D-FCE4-BE8D-ED72-1A4C8D664981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4095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BA68D7-9D7C-42B8-BD6B-A4B9C6BE522F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477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39104F-A6E3-4FB2-902A-A12FD9746726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08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9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6D64244-A3D4-4B68-87F0-779EEA0C37FE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7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2" r:id="rId2"/>
    <p:sldLayoutId id="2147483661" r:id="rId3"/>
    <p:sldLayoutId id="2147483663" r:id="rId4"/>
    <p:sldLayoutId id="2147483665" r:id="rId5"/>
    <p:sldLayoutId id="2147483667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718" r:id="rId56"/>
    <p:sldLayoutId id="2147483719" r:id="rId5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A8F1-A74E-517F-533C-2E946A6E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BFD4-D761-2210-21F4-9274B0370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/>
          <a:p>
            <a:r>
              <a:rPr lang="en-US"/>
              <a:t>Bias Detection in News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15540-C76F-01EA-3FDE-A5960B33E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/>
          <a:p>
            <a:r>
              <a:rPr lang="en-US"/>
              <a:t>Understanding and identifying bias in news reporting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A2051-9E94-4591-EFEE-89F9C306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C7C48-89F7-69CF-D8F3-FCD1C927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37594" y="6445997"/>
            <a:ext cx="184211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278C13-F8B8-4237-9811-6A882F130BDA}" type="datetime1">
              <a:rPr lang="en-US" smtClean="0"/>
              <a:pPr>
                <a:spcAft>
                  <a:spcPts val="600"/>
                </a:spcAft>
              </a:pPr>
              <a:t>11/29/2025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D158-344B-716D-E1F8-A352DF04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7" name="Picture 6" descr="A magnifying glass over a magnifying glass&#10;&#10;AI-generated content may be incorrect.">
            <a:extLst>
              <a:ext uri="{FF2B5EF4-FFF2-40B4-BE49-F238E27FC236}">
                <a16:creationId xmlns:a16="http://schemas.microsoft.com/office/drawing/2014/main" id="{55556327-CBEF-C42A-28D1-7075BDE83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" y="-2838"/>
            <a:ext cx="12192850" cy="682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0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24162-4340-D310-D5FB-A53FBBA7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D144-C92F-A38B-6741-1B80B3CA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0" y="46878"/>
            <a:ext cx="11759380" cy="165129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Project Topic: </a:t>
            </a:r>
            <a:b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</a:br>
            <a:b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sz="5000" dirty="0">
                <a:solidFill>
                  <a:schemeClr val="tx1"/>
                </a:solidFill>
                <a:latin typeface="Georgia" panose="02040502050405020303" pitchFamily="18" charset="0"/>
              </a:rPr>
              <a:t>Bias Detection in News Media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09307-3B04-C75A-C220-7E03EC5B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849077-09D4-C3B2-9D88-6207CA985A8B}"/>
              </a:ext>
            </a:extLst>
          </p:cNvPr>
          <p:cNvSpPr txBox="1">
            <a:spLocks/>
          </p:cNvSpPr>
          <p:nvPr/>
        </p:nvSpPr>
        <p:spPr>
          <a:xfrm>
            <a:off x="127819" y="1926771"/>
            <a:ext cx="11965858" cy="45192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3000" dirty="0">
                <a:solidFill>
                  <a:schemeClr val="tx1"/>
                </a:solidFill>
                <a:latin typeface="Georgia" panose="02040502050405020303" pitchFamily="18" charset="0"/>
              </a:rPr>
              <a:t>Team Name: </a:t>
            </a:r>
            <a:r>
              <a:rPr lang="en-US" sz="3000" b="1" dirty="0">
                <a:solidFill>
                  <a:schemeClr val="tx1"/>
                </a:solidFill>
                <a:latin typeface="Georgia" panose="02040502050405020303" pitchFamily="18" charset="0"/>
              </a:rPr>
              <a:t>The Geeks Behind Scaling Algorithms (GBSA) </a:t>
            </a:r>
          </a:p>
          <a:p>
            <a:pPr marL="285750" indent="-285750"/>
            <a:r>
              <a:rPr lang="en-US" sz="3000" dirty="0">
                <a:solidFill>
                  <a:schemeClr val="tx1"/>
                </a:solidFill>
                <a:latin typeface="Georgia" panose="02040502050405020303" pitchFamily="18" charset="0"/>
              </a:rPr>
              <a:t>Team Members: </a:t>
            </a:r>
          </a:p>
          <a:p>
            <a:pPr marL="742950" lvl="1" indent="-285750"/>
            <a:r>
              <a:rPr lang="en-US" sz="3000" dirty="0">
                <a:solidFill>
                  <a:schemeClr val="tx1"/>
                </a:solidFill>
                <a:latin typeface="Georgia" panose="02040502050405020303" pitchFamily="18" charset="0"/>
              </a:rPr>
              <a:t>Girish S N (girishsn@iisc.ac.in) </a:t>
            </a:r>
          </a:p>
          <a:p>
            <a:pPr marL="742950" lvl="1" indent="-285750"/>
            <a:r>
              <a:rPr lang="en-US" sz="3000" dirty="0">
                <a:solidFill>
                  <a:schemeClr val="tx1"/>
                </a:solidFill>
                <a:latin typeface="Georgia" panose="02040502050405020303" pitchFamily="18" charset="0"/>
              </a:rPr>
              <a:t>Bharath Karanth A (bharathk@iisc.ac.in) </a:t>
            </a:r>
          </a:p>
          <a:p>
            <a:pPr marL="742950" lvl="1" indent="-285750"/>
            <a:r>
              <a:rPr lang="en-US" sz="3000" dirty="0">
                <a:solidFill>
                  <a:schemeClr val="tx1"/>
                </a:solidFill>
                <a:latin typeface="Georgia" panose="02040502050405020303" pitchFamily="18" charset="0"/>
              </a:rPr>
              <a:t>Saravanakumar R (saravanakum1@iisc.ac.in) </a:t>
            </a:r>
          </a:p>
          <a:p>
            <a:pPr marL="742950" lvl="1" indent="-285750"/>
            <a:r>
              <a:rPr lang="en-US" sz="3000" dirty="0">
                <a:solidFill>
                  <a:schemeClr val="tx1"/>
                </a:solidFill>
                <a:latin typeface="Georgia" panose="02040502050405020303" pitchFamily="18" charset="0"/>
              </a:rPr>
              <a:t>Anmol Gupta (anmolg@iisc.ac.in)</a:t>
            </a:r>
          </a:p>
        </p:txBody>
      </p:sp>
    </p:spTree>
    <p:extLst>
      <p:ext uri="{BB962C8B-B14F-4D97-AF65-F5344CB8AC3E}">
        <p14:creationId xmlns:p14="http://schemas.microsoft.com/office/powerpoint/2010/main" val="3666686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FB7B3-4086-B1BC-9447-A8B665A5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FB09-DCB2-4B5D-7E8A-21B77D7C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11122507" cy="3677920"/>
          </a:xfrm>
        </p:spPr>
        <p:txBody>
          <a:bodyPr>
            <a:noAutofit/>
          </a:bodyPr>
          <a:lstStyle/>
          <a:p>
            <a:r>
              <a:rPr lang="en-US" sz="10800" dirty="0">
                <a:solidFill>
                  <a:schemeClr val="tx1"/>
                </a:solidFill>
              </a:rPr>
              <a:t>Problem </a:t>
            </a:r>
            <a:br>
              <a:rPr lang="en-US" sz="10800" dirty="0">
                <a:solidFill>
                  <a:schemeClr val="tx1"/>
                </a:solidFill>
              </a:rPr>
            </a:br>
            <a:r>
              <a:rPr lang="en-US" sz="10800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DB55E-8D6E-657A-096A-71C51F76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7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9467-3BD1-6021-2B85-C8761A73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171870"/>
            <a:ext cx="11297920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7230A-0914-E1EC-73FE-5E0678E6C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News outlets are often accused of biased reporting across dimensions - political, gender, religious, caste, regional, socioeconomic, and others.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With increasing polarization and misinformation, unbiased reporting is critical.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With the rapid growth of digital news, readers are exposed to vast and diverse information, often with subtle or overt biases.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Biased reporting can influence public opinion and societal harmony.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6A769-6DA8-E409-1358-AC50E188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1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59A58-9E47-18F7-8E25-81B0909C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8228-3067-3FE6-A35B-34FBB9034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171870"/>
            <a:ext cx="11297920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C639-3FEF-CC6F-430B-23645D1E9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There is a need for an automated, scalable solution that can analyze news articles for bias, offering transparent, multi-dimensional, and interpretable results.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This project seeks to provide researchers, fact-checkers, and the public with actionable insights into media bias in Indian journalism.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A bias detection system can help everyone identify and understand media bias, promoting transparency and informed decision-making.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8D1AA-63F1-FD69-31C5-F56DACD4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58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BBEE3-D232-3877-4F3A-ACA85E4E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C099-1CF5-F3EC-95D5-7B6C722B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11122507" cy="3677920"/>
          </a:xfrm>
        </p:spPr>
        <p:txBody>
          <a:bodyPr>
            <a:noAutofit/>
          </a:bodyPr>
          <a:lstStyle/>
          <a:p>
            <a:r>
              <a:rPr lang="en-US" sz="10800" dirty="0">
                <a:solidFill>
                  <a:schemeClr val="tx1"/>
                </a:solidFill>
              </a:rPr>
              <a:t>Architecture and </a:t>
            </a:r>
            <a:br>
              <a:rPr lang="en-US" sz="10800" dirty="0">
                <a:solidFill>
                  <a:schemeClr val="tx1"/>
                </a:solidFill>
              </a:rPr>
            </a:br>
            <a:r>
              <a:rPr lang="en-US" sz="10800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C861-A705-8DE7-DECF-ADA7B921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8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BD292-EB5D-8A37-481E-0E972D94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BB66-02F5-519E-FFAE-ECA20846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171870"/>
            <a:ext cx="11523406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FA65B-CFA2-40DD-D95D-A06CDEBE3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Multi-Dimensional Detection: Support six bias dimensions.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Scalability: Process large datasets both in batch and streaming modes.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Robustness: Use an ensemble approach for accurate and interpretable results.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Extensibility: Enable easy addition of new data sources, languages, and bias dimensions.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Monitoring &amp; Usability: Simplified deployment, monitoring, and result querying.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C6E9-9E30-0784-2F9C-BD6B81A0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6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6B6F-1988-1ACA-1CBF-8E49EDC0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3058-B709-EB1D-846E-E401AE52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657" y="171870"/>
            <a:ext cx="6353666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5B6C6-50F6-6D99-6F7A-5CFE029BD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Automated web scraping from Indian news sources.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Real-time and batch data processing pipelines.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Storage and retrieval from a scalable database.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Configurable ensemble bias detection.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Monitoring UI, logs, error handling.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499A4-DEA0-24BB-F9F3-4FB51D39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85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FB35-E14C-6A69-033B-5C90EC985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B3FE-8B1C-F34A-6683-65B6E5B5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657" y="171870"/>
            <a:ext cx="6353666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Data Collection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DC8DF-1F58-0FAF-5F43-AC74DCD8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Data was collected through the web scraping of the online news articles.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To give an idea, we scraped articles from the “The Indian Express” from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1998</a:t>
            </a: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 to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2025</a:t>
            </a: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Took around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80</a:t>
            </a: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 hours,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Using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4</a:t>
            </a: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 Threads, where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Size per article was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4,000</a:t>
            </a: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 to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8,000</a:t>
            </a: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 words.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Articles also collected from “The Economic Times” and “The Times of India”.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Total number of samples that we eventually worked on was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303,518</a:t>
            </a: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EA04E-9B8D-BBC1-3456-39EF4709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4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C887E-0560-5AE8-A6D0-5182652E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A0E9-DB41-8315-0773-63052064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657" y="171870"/>
            <a:ext cx="6353666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37D2-BB71-BCF6-DAC8-F5A6EB54D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Ingestion: Scrapers collect articles, push to Kafka.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Processing: Spark jobs process data in batch (daily analysis) or stream (real-time analysis).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ML Pipeline: Topic classification and bias detection using ensemble models.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Storage: Results stored in MongoDB, logs/errors tracked for analysis and troubleshooting.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34F5B-B08C-E284-E6DA-E2A60629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7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3A41-057D-70DB-C88F-DC91AAE0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BD162CE4-DDAE-D41A-F840-89EE8143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0" y="586591"/>
            <a:ext cx="3911599" cy="1753486"/>
          </a:xfrm>
        </p:spPr>
        <p:txBody>
          <a:bodyPr>
            <a:normAutofit/>
          </a:bodyPr>
          <a:lstStyle/>
          <a:p>
            <a:pPr algn="r"/>
            <a:r>
              <a:rPr lang="en-US" sz="5400" dirty="0"/>
              <a:t>Data Flow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091B6-AD7A-56D0-A040-120453ED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4AEA821-F583-9DDE-58D8-6D098C106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5713"/>
          <a:stretch>
            <a:fillRect/>
          </a:stretch>
        </p:blipFill>
        <p:spPr>
          <a:xfrm>
            <a:off x="310536" y="35763"/>
            <a:ext cx="6105832" cy="6592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05687A-43DA-43CD-5EE6-8A5D957AF492}"/>
              </a:ext>
            </a:extLst>
          </p:cNvPr>
          <p:cNvSpPr txBox="1"/>
          <p:nvPr/>
        </p:nvSpPr>
        <p:spPr>
          <a:xfrm>
            <a:off x="9698038" y="5902077"/>
            <a:ext cx="294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(continued in next slide)</a:t>
            </a:r>
          </a:p>
        </p:txBody>
      </p:sp>
    </p:spTree>
    <p:extLst>
      <p:ext uri="{BB962C8B-B14F-4D97-AF65-F5344CB8AC3E}">
        <p14:creationId xmlns:p14="http://schemas.microsoft.com/office/powerpoint/2010/main" val="201142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E0DC-7914-B3AB-A95E-5758D221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0DC7FE3B-1C05-AC25-44E2-077CA978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0" y="586591"/>
            <a:ext cx="3911599" cy="1753486"/>
          </a:xfrm>
        </p:spPr>
        <p:txBody>
          <a:bodyPr>
            <a:normAutofit/>
          </a:bodyPr>
          <a:lstStyle/>
          <a:p>
            <a:pPr algn="r"/>
            <a:r>
              <a:rPr lang="en-US" sz="5400" dirty="0"/>
              <a:t>Data Flow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6935E-44E4-1993-DD82-079D0A2A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7CD1C44-7BCF-D2B1-E0BF-C932E242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93"/>
          <a:stretch>
            <a:fillRect/>
          </a:stretch>
        </p:blipFill>
        <p:spPr>
          <a:xfrm>
            <a:off x="180677" y="95476"/>
            <a:ext cx="5490077" cy="666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3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9D90D-7E4E-76EE-9F01-A24C4E3F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5947-129F-1780-0465-C8BB02A8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11122507" cy="3677920"/>
          </a:xfrm>
        </p:spPr>
        <p:txBody>
          <a:bodyPr>
            <a:noAutofit/>
          </a:bodyPr>
          <a:lstStyle/>
          <a:p>
            <a:r>
              <a:rPr lang="en-US" sz="10800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41D0D-BEA3-E878-1DA4-2C5C708C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27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50F1-F127-23A9-1E6C-A6699FB3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99DF-A30E-A725-266A-3E32ABF9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657" y="171870"/>
            <a:ext cx="6353666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B6A8-8DD0-C2C9-55E2-92966CDC6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Big Data Platforms Used: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Apache Spark for scalable distributed processing.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Apache Kafka for message queuing and streaming.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MongoDB for document-based storage and analytics.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Orchestration: Docker, Docker-Compose for environment setup and deployment.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Languages Used: Shell Scripting and Python.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AB5E-E2C1-1196-D351-46DE7C9D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48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937A-D155-E18F-CE85-D2E89060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653ECC6F-5A1A-0504-7762-50680AEB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0" y="586591"/>
            <a:ext cx="3911599" cy="1753486"/>
          </a:xfrm>
        </p:spPr>
        <p:txBody>
          <a:bodyPr>
            <a:normAutofit/>
          </a:bodyPr>
          <a:lstStyle/>
          <a:p>
            <a:pPr algn="r"/>
            <a:r>
              <a:rPr lang="en-US" sz="5400" dirty="0"/>
              <a:t>Sequence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F2EF2-7A28-B76D-434F-B6A4091F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2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574001-5736-49BB-45B5-D1538988C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1" y="92850"/>
            <a:ext cx="7689849" cy="67025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836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7710-B749-590D-0F0C-6B909C0F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F19B-7ECD-C84C-510B-4A94F59BC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70"/>
            <a:ext cx="11228439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Machine Learning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7F657-2123-4674-C367-6547FF8F2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Ensemble Approach (Bias Detection):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Keyword Matching (30% weight): Rule-based, interpretable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TF-IDF Analysis (30% weight): Statistical term importance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BERT Embeddings (40% weight): Semantic understanding (Sentence-Transformers)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E6FE-659D-C406-EE54-4BFB7E31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51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AF7E2-4BC8-6FDD-A89B-CA07AFE7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F072-3A6F-0579-4888-2A12CA44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70"/>
            <a:ext cx="11228439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Machine Learning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581CD-FFBE-9472-AC62-4B50C6C6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Topic Modeling &amp; Classification: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Zero-shot classification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LDA topic modeling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TF-IDF clustering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Ensemble topic consensus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19AF9-8C19-1ECC-1C09-154EF255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65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21FCD-0DB2-DF0C-F6E9-C935D7AA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544E-A3F4-0C0D-C40F-25FCC00CA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84" y="171870"/>
            <a:ext cx="10107561" cy="171108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Scalability and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94337-9BF2-378D-3282-B1EDA5FB2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End-to-End Latency: For the streaming pipeline, the time taken from when an article is published to Kafka until its analysis is stored in MongoDB.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Throughput: The number of articles processed per second or minute.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Resource Utilization: CPU and memory usage of the Spark cluster, which can be monitored via the Spark UI.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C989B-D8A4-897C-634A-2ADB8A15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99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B2723-45C6-824A-8B55-7B8EBF14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E34B-9C0D-4D0B-AA58-8A4D9520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11122507" cy="3677920"/>
          </a:xfrm>
        </p:spPr>
        <p:txBody>
          <a:bodyPr>
            <a:noAutofit/>
          </a:bodyPr>
          <a:lstStyle/>
          <a:p>
            <a:r>
              <a:rPr lang="en-US" sz="10800" dirty="0">
                <a:solidFill>
                  <a:schemeClr val="tx1"/>
                </a:solidFill>
              </a:rPr>
              <a:t>Visualizations of Key </a:t>
            </a:r>
            <a:br>
              <a:rPr lang="en-US" sz="10800" dirty="0">
                <a:solidFill>
                  <a:schemeClr val="tx1"/>
                </a:solidFill>
              </a:rPr>
            </a:br>
            <a:r>
              <a:rPr lang="en-US" sz="10800" dirty="0">
                <a:solidFill>
                  <a:schemeClr val="tx1"/>
                </a:solidFill>
              </a:rPr>
              <a:t>Results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DE9B4-2901-7B5C-A6DB-19DD5581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08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DDBE99E4-D923-42FD-9F71-BC209644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744" y="586591"/>
            <a:ext cx="2291255" cy="1753486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/>
              <a:t>Word Count Analysis Summary </a:t>
            </a:r>
            <a:br>
              <a:rPr lang="en-US" dirty="0"/>
            </a:br>
            <a:r>
              <a:rPr lang="en-US" dirty="0"/>
              <a:t>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5817D-9D1D-FE59-F8FF-8D5FA2C9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D9AF6EBF-EFB4-A384-2894-E78AADDC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13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717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C61A-E502-9F28-5EFB-563DA755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0E18267F-6C48-BE70-00EF-17C2579A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744" y="586591"/>
            <a:ext cx="2291255" cy="1753486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/>
              <a:t>Bias Detection Summary </a:t>
            </a:r>
            <a:br>
              <a:rPr lang="en-US" dirty="0"/>
            </a:br>
            <a:r>
              <a:rPr lang="en-US" dirty="0"/>
              <a:t>Dashboard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BC6163-5CD7-03D6-62CB-92456818A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49810"/>
            <a:ext cx="9900745" cy="680525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CD79B-1741-CFE0-1F6B-4E0FB3BB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8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1EB84-0D16-2236-DC0F-6297E4B3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CC0D795F-7A9B-ACE4-3C9B-A65AE1952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0FCA7-70B2-A038-B5B8-DCF31DDA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80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D4E88-1822-12C9-1DDC-900604CCE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>
            <a:extLst>
              <a:ext uri="{FF2B5EF4-FFF2-40B4-BE49-F238E27FC236}">
                <a16:creationId xmlns:a16="http://schemas.microsoft.com/office/drawing/2014/main" id="{27DF7621-A911-B371-7068-5985A2611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Title 1">
            <a:extLst>
              <a:ext uri="{FF2B5EF4-FFF2-40B4-BE49-F238E27FC236}">
                <a16:creationId xmlns:a16="http://schemas.microsoft.com/office/drawing/2014/main" id="{844EE5F3-BF31-D2E7-E039-88DF50F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400" y="2088468"/>
            <a:ext cx="1657350" cy="1600279"/>
          </a:xfrm>
        </p:spPr>
        <p:txBody>
          <a:bodyPr/>
          <a:lstStyle/>
          <a:p>
            <a:pPr algn="r"/>
            <a:r>
              <a:rPr lang="en-US" dirty="0"/>
              <a:t>Gender Bias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10FB5-FCCA-B5FF-2580-381FCCF2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54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1B64-CD40-4E44-03E2-780DD90D3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9007047A-B237-58E8-C1E5-E01A18EE9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Title 1">
            <a:extLst>
              <a:ext uri="{FF2B5EF4-FFF2-40B4-BE49-F238E27FC236}">
                <a16:creationId xmlns:a16="http://schemas.microsoft.com/office/drawing/2014/main" id="{78A66D98-1476-9A57-9331-08688BCF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6700" y="2422859"/>
            <a:ext cx="1657350" cy="1600279"/>
          </a:xfrm>
        </p:spPr>
        <p:txBody>
          <a:bodyPr/>
          <a:lstStyle/>
          <a:p>
            <a:pPr algn="r"/>
            <a:r>
              <a:rPr lang="en-US" dirty="0"/>
              <a:t>Political Bias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05DCC-70DB-B6B7-909B-985FF6A6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58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0093-A537-6307-D243-0752F0EE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>
            <a:extLst>
              <a:ext uri="{FF2B5EF4-FFF2-40B4-BE49-F238E27FC236}">
                <a16:creationId xmlns:a16="http://schemas.microsoft.com/office/drawing/2014/main" id="{CCCDE830-E2BE-E2DF-1F5D-23DC352D8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Title 1">
            <a:extLst>
              <a:ext uri="{FF2B5EF4-FFF2-40B4-BE49-F238E27FC236}">
                <a16:creationId xmlns:a16="http://schemas.microsoft.com/office/drawing/2014/main" id="{EA900F05-8FF5-C6E8-DC92-355ED93D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8300" y="2422859"/>
            <a:ext cx="1549400" cy="1600279"/>
          </a:xfrm>
        </p:spPr>
        <p:txBody>
          <a:bodyPr/>
          <a:lstStyle/>
          <a:p>
            <a:pPr algn="r"/>
            <a:r>
              <a:rPr lang="en-US" dirty="0"/>
              <a:t>Caste</a:t>
            </a:r>
            <a:br>
              <a:rPr lang="en-US" dirty="0"/>
            </a:br>
            <a:r>
              <a:rPr lang="en-US" dirty="0"/>
              <a:t>Based Bias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0D329-50DE-4DE2-C460-12C80175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73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F3A7-F58B-B2FE-315A-C853E544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>
            <a:extLst>
              <a:ext uri="{FF2B5EF4-FFF2-40B4-BE49-F238E27FC236}">
                <a16:creationId xmlns:a16="http://schemas.microsoft.com/office/drawing/2014/main" id="{15BBEE65-9DEC-A48B-3059-748B8B57E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Title 1">
            <a:extLst>
              <a:ext uri="{FF2B5EF4-FFF2-40B4-BE49-F238E27FC236}">
                <a16:creationId xmlns:a16="http://schemas.microsoft.com/office/drawing/2014/main" id="{73BA8CDB-5770-D100-29E5-BFC9BFBA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6200" y="3797300"/>
            <a:ext cx="1682750" cy="1600279"/>
          </a:xfrm>
        </p:spPr>
        <p:txBody>
          <a:bodyPr/>
          <a:lstStyle/>
          <a:p>
            <a:pPr algn="r"/>
            <a:r>
              <a:rPr lang="en-US" dirty="0"/>
              <a:t>Religion</a:t>
            </a:r>
            <a:br>
              <a:rPr lang="en-US" dirty="0"/>
            </a:br>
            <a:r>
              <a:rPr lang="en-US" dirty="0"/>
              <a:t>Based Bias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07DE3-3CAD-B53E-0FB7-7A56DB78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19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FF17-28C0-5582-6B1D-D29B261B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>
            <a:extLst>
              <a:ext uri="{FF2B5EF4-FFF2-40B4-BE49-F238E27FC236}">
                <a16:creationId xmlns:a16="http://schemas.microsoft.com/office/drawing/2014/main" id="{0C445A4F-2B6B-4F15-BAB0-93BB32504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Title 1">
            <a:extLst>
              <a:ext uri="{FF2B5EF4-FFF2-40B4-BE49-F238E27FC236}">
                <a16:creationId xmlns:a16="http://schemas.microsoft.com/office/drawing/2014/main" id="{5F2B2D94-2243-0BC6-CE38-9918EA3D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0" y="3039330"/>
            <a:ext cx="1498600" cy="1600279"/>
          </a:xfrm>
        </p:spPr>
        <p:txBody>
          <a:bodyPr/>
          <a:lstStyle/>
          <a:p>
            <a:pPr algn="r"/>
            <a:r>
              <a:rPr lang="en-US" dirty="0"/>
              <a:t>Region</a:t>
            </a:r>
            <a:br>
              <a:rPr lang="en-US" dirty="0"/>
            </a:br>
            <a:r>
              <a:rPr lang="en-US" dirty="0"/>
              <a:t>Based Bias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73FA9-A4AD-1612-4DB6-8C1A87E2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F60B60-82CA-4BB9-BA6E-A62FADF2374B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01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9D6E1-C46A-38B8-B77E-F1369C6A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2906-91DA-EA55-B91C-299870C8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11122507" cy="3677920"/>
          </a:xfrm>
        </p:spPr>
        <p:txBody>
          <a:bodyPr>
            <a:noAutofit/>
          </a:bodyPr>
          <a:lstStyle/>
          <a:p>
            <a:r>
              <a:rPr lang="en-US" sz="10800" dirty="0">
                <a:solidFill>
                  <a:schemeClr val="tx1"/>
                </a:solidFill>
              </a:rPr>
              <a:t>Key Performance</a:t>
            </a:r>
            <a:br>
              <a:rPr lang="en-US" sz="10800" dirty="0">
                <a:solidFill>
                  <a:schemeClr val="tx1"/>
                </a:solidFill>
              </a:rPr>
            </a:br>
            <a:r>
              <a:rPr lang="en-US" sz="10800" dirty="0">
                <a:solidFill>
                  <a:schemeClr val="tx1"/>
                </a:solidFill>
              </a:rPr>
              <a:t>Benchmarks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ADE67-3DC2-8313-F1F7-2D2FFD81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11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78AA-A530-C705-C82A-9FE75CB83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37B05-5142-5A76-A693-8A1E4976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F7BE18-3BDF-E488-5017-165D20641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06FDAC-BF07-4061-0C11-8127EE64E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6862A540-A043-1769-FCDF-44C56117B2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5710871"/>
              </p:ext>
            </p:extLst>
          </p:nvPr>
        </p:nvGraphicFramePr>
        <p:xfrm>
          <a:off x="127819" y="724635"/>
          <a:ext cx="11936361" cy="563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146">
                  <a:extLst>
                    <a:ext uri="{9D8B030D-6E8A-4147-A177-3AD203B41FA5}">
                      <a16:colId xmlns:a16="http://schemas.microsoft.com/office/drawing/2014/main" val="3592393498"/>
                    </a:ext>
                  </a:extLst>
                </a:gridCol>
                <a:gridCol w="1071053">
                  <a:extLst>
                    <a:ext uri="{9D8B030D-6E8A-4147-A177-3AD203B41FA5}">
                      <a16:colId xmlns:a16="http://schemas.microsoft.com/office/drawing/2014/main" val="2861160925"/>
                    </a:ext>
                  </a:extLst>
                </a:gridCol>
                <a:gridCol w="1367124">
                  <a:extLst>
                    <a:ext uri="{9D8B030D-6E8A-4147-A177-3AD203B41FA5}">
                      <a16:colId xmlns:a16="http://schemas.microsoft.com/office/drawing/2014/main" val="2623421419"/>
                    </a:ext>
                  </a:extLst>
                </a:gridCol>
                <a:gridCol w="1307910">
                  <a:extLst>
                    <a:ext uri="{9D8B030D-6E8A-4147-A177-3AD203B41FA5}">
                      <a16:colId xmlns:a16="http://schemas.microsoft.com/office/drawing/2014/main" val="3717049758"/>
                    </a:ext>
                  </a:extLst>
                </a:gridCol>
                <a:gridCol w="1189482">
                  <a:extLst>
                    <a:ext uri="{9D8B030D-6E8A-4147-A177-3AD203B41FA5}">
                      <a16:colId xmlns:a16="http://schemas.microsoft.com/office/drawing/2014/main" val="915506965"/>
                    </a:ext>
                  </a:extLst>
                </a:gridCol>
                <a:gridCol w="1625794">
                  <a:extLst>
                    <a:ext uri="{9D8B030D-6E8A-4147-A177-3AD203B41FA5}">
                      <a16:colId xmlns:a16="http://schemas.microsoft.com/office/drawing/2014/main" val="1394432709"/>
                    </a:ext>
                  </a:extLst>
                </a:gridCol>
                <a:gridCol w="1432772">
                  <a:extLst>
                    <a:ext uri="{9D8B030D-6E8A-4147-A177-3AD203B41FA5}">
                      <a16:colId xmlns:a16="http://schemas.microsoft.com/office/drawing/2014/main" val="3670860010"/>
                    </a:ext>
                  </a:extLst>
                </a:gridCol>
                <a:gridCol w="1289008">
                  <a:extLst>
                    <a:ext uri="{9D8B030D-6E8A-4147-A177-3AD203B41FA5}">
                      <a16:colId xmlns:a16="http://schemas.microsoft.com/office/drawing/2014/main" val="257773833"/>
                    </a:ext>
                  </a:extLst>
                </a:gridCol>
                <a:gridCol w="1593072">
                  <a:extLst>
                    <a:ext uri="{9D8B030D-6E8A-4147-A177-3AD203B41FA5}">
                      <a16:colId xmlns:a16="http://schemas.microsoft.com/office/drawing/2014/main" val="827692871"/>
                    </a:ext>
                  </a:extLst>
                </a:gridCol>
              </a:tblGrid>
              <a:tr h="1133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Data Set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Topic Partition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Producer Batch Size 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Consumer Batch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Records Processed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Total Duration of Produce and Consume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Throughput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Average Batch Processing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Spark Cores and Memory </a:t>
                      </a:r>
                    </a:p>
                  </a:txBody>
                  <a:tcPr marL="74944" marR="74944" marT="37472" marB="37472" anchor="ctr"/>
                </a:tc>
                <a:extLst>
                  <a:ext uri="{0D108BD9-81ED-4DB2-BD59-A6C34878D82A}">
                    <a16:rowId xmlns:a16="http://schemas.microsoft.com/office/drawing/2014/main" val="365898797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1 %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1000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1000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3035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58s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51 records/second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1238ms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</a:t>
                      </a:r>
                    </a:p>
                  </a:txBody>
                  <a:tcPr marL="74944" marR="74944" marT="37472" marB="37472" anchor="ctr"/>
                </a:tc>
                <a:extLst>
                  <a:ext uri="{0D108BD9-81ED-4DB2-BD59-A6C34878D82A}">
                    <a16:rowId xmlns:a16="http://schemas.microsoft.com/office/drawing/2014/main" val="2298060100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5 %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1000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1000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15175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178s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84 records/second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659ms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</a:t>
                      </a:r>
                    </a:p>
                  </a:txBody>
                  <a:tcPr marL="74944" marR="74944" marT="37472" marB="37472" anchor="ctr"/>
                </a:tc>
                <a:extLst>
                  <a:ext uri="{0D108BD9-81ED-4DB2-BD59-A6C34878D82A}">
                    <a16:rowId xmlns:a16="http://schemas.microsoft.com/office/drawing/2014/main" val="34069766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10 %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1000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1000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30351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333s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91 records/second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663ms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</a:t>
                      </a:r>
                    </a:p>
                  </a:txBody>
                  <a:tcPr marL="74944" marR="74944" marT="37472" marB="37472" anchor="ctr"/>
                </a:tc>
                <a:extLst>
                  <a:ext uri="{0D108BD9-81ED-4DB2-BD59-A6C34878D82A}">
                    <a16:rowId xmlns:a16="http://schemas.microsoft.com/office/drawing/2014/main" val="614803493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60703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629s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96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686ms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</a:t>
                      </a:r>
                      <a:endParaRPr lang="en-US" sz="1500" kern="1200" dirty="0">
                        <a:solidFill>
                          <a:schemeClr val="dk1"/>
                        </a:solidFill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800020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151759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1539s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98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615ms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158039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3065s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98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678ms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21093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36D8E35-B20A-D6A7-C6F8-4AFA9FB51EE5}"/>
              </a:ext>
            </a:extLst>
          </p:cNvPr>
          <p:cNvSpPr txBox="1"/>
          <p:nvPr/>
        </p:nvSpPr>
        <p:spPr>
          <a:xfrm>
            <a:off x="196850" y="6355237"/>
            <a:ext cx="4610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dk1"/>
                </a:solidFill>
                <a:latin typeface="Aptos Display" panose="020B0004020202020204" pitchFamily="34" charset="0"/>
              </a:rPr>
              <a:t>Note: Total Data Size was 300,000 rows.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D557AF2-17A8-7C19-8C86-4809866E81C0}"/>
              </a:ext>
            </a:extLst>
          </p:cNvPr>
          <p:cNvSpPr txBox="1">
            <a:spLocks/>
          </p:cNvSpPr>
          <p:nvPr/>
        </p:nvSpPr>
        <p:spPr>
          <a:xfrm>
            <a:off x="127819" y="171871"/>
            <a:ext cx="11936361" cy="507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Batch Size = 1,000         |        Topic Partition = 3</a:t>
            </a:r>
          </a:p>
        </p:txBody>
      </p:sp>
    </p:spTree>
    <p:extLst>
      <p:ext uri="{BB962C8B-B14F-4D97-AF65-F5344CB8AC3E}">
        <p14:creationId xmlns:p14="http://schemas.microsoft.com/office/powerpoint/2010/main" val="1170197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4FE4-E302-8FE9-F87F-7230EF52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53A48-A877-B33A-5DFF-6F2E1715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A41A4C6-917B-68A2-0E8F-E40AE1879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0C832B-37B1-2F9C-8371-E02AACEC6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872651BC-C576-518B-199F-8D013F0968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0679573"/>
              </p:ext>
            </p:extLst>
          </p:nvPr>
        </p:nvGraphicFramePr>
        <p:xfrm>
          <a:off x="127819" y="724635"/>
          <a:ext cx="11936361" cy="563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146">
                  <a:extLst>
                    <a:ext uri="{9D8B030D-6E8A-4147-A177-3AD203B41FA5}">
                      <a16:colId xmlns:a16="http://schemas.microsoft.com/office/drawing/2014/main" val="3592393498"/>
                    </a:ext>
                  </a:extLst>
                </a:gridCol>
                <a:gridCol w="1071053">
                  <a:extLst>
                    <a:ext uri="{9D8B030D-6E8A-4147-A177-3AD203B41FA5}">
                      <a16:colId xmlns:a16="http://schemas.microsoft.com/office/drawing/2014/main" val="2861160925"/>
                    </a:ext>
                  </a:extLst>
                </a:gridCol>
                <a:gridCol w="1367124">
                  <a:extLst>
                    <a:ext uri="{9D8B030D-6E8A-4147-A177-3AD203B41FA5}">
                      <a16:colId xmlns:a16="http://schemas.microsoft.com/office/drawing/2014/main" val="2623421419"/>
                    </a:ext>
                  </a:extLst>
                </a:gridCol>
                <a:gridCol w="1307910">
                  <a:extLst>
                    <a:ext uri="{9D8B030D-6E8A-4147-A177-3AD203B41FA5}">
                      <a16:colId xmlns:a16="http://schemas.microsoft.com/office/drawing/2014/main" val="3717049758"/>
                    </a:ext>
                  </a:extLst>
                </a:gridCol>
                <a:gridCol w="1189482">
                  <a:extLst>
                    <a:ext uri="{9D8B030D-6E8A-4147-A177-3AD203B41FA5}">
                      <a16:colId xmlns:a16="http://schemas.microsoft.com/office/drawing/2014/main" val="915506965"/>
                    </a:ext>
                  </a:extLst>
                </a:gridCol>
                <a:gridCol w="1625794">
                  <a:extLst>
                    <a:ext uri="{9D8B030D-6E8A-4147-A177-3AD203B41FA5}">
                      <a16:colId xmlns:a16="http://schemas.microsoft.com/office/drawing/2014/main" val="1394432709"/>
                    </a:ext>
                  </a:extLst>
                </a:gridCol>
                <a:gridCol w="1489922">
                  <a:extLst>
                    <a:ext uri="{9D8B030D-6E8A-4147-A177-3AD203B41FA5}">
                      <a16:colId xmlns:a16="http://schemas.microsoft.com/office/drawing/2014/main" val="3670860010"/>
                    </a:ext>
                  </a:extLst>
                </a:gridCol>
                <a:gridCol w="1231858">
                  <a:extLst>
                    <a:ext uri="{9D8B030D-6E8A-4147-A177-3AD203B41FA5}">
                      <a16:colId xmlns:a16="http://schemas.microsoft.com/office/drawing/2014/main" val="257773833"/>
                    </a:ext>
                  </a:extLst>
                </a:gridCol>
                <a:gridCol w="1593072">
                  <a:extLst>
                    <a:ext uri="{9D8B030D-6E8A-4147-A177-3AD203B41FA5}">
                      <a16:colId xmlns:a16="http://schemas.microsoft.com/office/drawing/2014/main" val="827692871"/>
                    </a:ext>
                  </a:extLst>
                </a:gridCol>
              </a:tblGrid>
              <a:tr h="1133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Data Set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Topic Partition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Producer Batch Size 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Consumer Batch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Records Processed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Total Duration of Produce and Consume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Throughput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Average Batch Processing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Spark Cores and Memory </a:t>
                      </a:r>
                    </a:p>
                  </a:txBody>
                  <a:tcPr marL="74944" marR="74944" marT="37472" marB="37472" anchor="ctr"/>
                </a:tc>
                <a:extLst>
                  <a:ext uri="{0D108BD9-81ED-4DB2-BD59-A6C34878D82A}">
                    <a16:rowId xmlns:a16="http://schemas.microsoft.com/office/drawing/2014/main" val="365898797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44s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68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7187ms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31313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 Cores and 4 GB Memory 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060100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15175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313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4195ms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31313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 Cores and 4 GB Memory 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9766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59s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513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3788ms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31313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 Cores and 4 GB Memory 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803493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60703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88s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686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3554ms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31313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 Cores and 4 GB Memory 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800020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151759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183s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824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4563ms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31313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 Cores and 4 GB Memory 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158039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339s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895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5152ms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31313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 Cores and 4 GB Memory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21093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64BE1B9-9E75-6B31-F8A0-FA6A947F0C59}"/>
              </a:ext>
            </a:extLst>
          </p:cNvPr>
          <p:cNvSpPr txBox="1"/>
          <p:nvPr/>
        </p:nvSpPr>
        <p:spPr>
          <a:xfrm>
            <a:off x="196850" y="6355237"/>
            <a:ext cx="4610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dk1"/>
                </a:solidFill>
                <a:latin typeface="Aptos Display" panose="020B0004020202020204" pitchFamily="34" charset="0"/>
              </a:rPr>
              <a:t>Note: Total Data Size was 300,000 rows.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6EA803E-97FC-2077-749D-3028E78CB422}"/>
              </a:ext>
            </a:extLst>
          </p:cNvPr>
          <p:cNvSpPr txBox="1">
            <a:spLocks/>
          </p:cNvSpPr>
          <p:nvPr/>
        </p:nvSpPr>
        <p:spPr>
          <a:xfrm>
            <a:off x="196850" y="171871"/>
            <a:ext cx="11753850" cy="507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Batch Size = 10,000       |        Topic Partition = 3</a:t>
            </a:r>
          </a:p>
        </p:txBody>
      </p:sp>
    </p:spTree>
    <p:extLst>
      <p:ext uri="{BB962C8B-B14F-4D97-AF65-F5344CB8AC3E}">
        <p14:creationId xmlns:p14="http://schemas.microsoft.com/office/powerpoint/2010/main" val="1855236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8433-4788-D4B8-968B-78198B0D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57A01-B8DB-FE73-9694-2B81BBFB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178599-4A53-898F-7BDE-71D566712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B2E8E6-FDD1-FE2D-8016-9F60F8E7F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D56D3082-F484-253A-D301-626AA7940B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9854676"/>
              </p:ext>
            </p:extLst>
          </p:nvPr>
        </p:nvGraphicFramePr>
        <p:xfrm>
          <a:off x="127819" y="724635"/>
          <a:ext cx="11936361" cy="563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146">
                  <a:extLst>
                    <a:ext uri="{9D8B030D-6E8A-4147-A177-3AD203B41FA5}">
                      <a16:colId xmlns:a16="http://schemas.microsoft.com/office/drawing/2014/main" val="3592393498"/>
                    </a:ext>
                  </a:extLst>
                </a:gridCol>
                <a:gridCol w="1071053">
                  <a:extLst>
                    <a:ext uri="{9D8B030D-6E8A-4147-A177-3AD203B41FA5}">
                      <a16:colId xmlns:a16="http://schemas.microsoft.com/office/drawing/2014/main" val="2861160925"/>
                    </a:ext>
                  </a:extLst>
                </a:gridCol>
                <a:gridCol w="1367124">
                  <a:extLst>
                    <a:ext uri="{9D8B030D-6E8A-4147-A177-3AD203B41FA5}">
                      <a16:colId xmlns:a16="http://schemas.microsoft.com/office/drawing/2014/main" val="2623421419"/>
                    </a:ext>
                  </a:extLst>
                </a:gridCol>
                <a:gridCol w="1307910">
                  <a:extLst>
                    <a:ext uri="{9D8B030D-6E8A-4147-A177-3AD203B41FA5}">
                      <a16:colId xmlns:a16="http://schemas.microsoft.com/office/drawing/2014/main" val="3717049758"/>
                    </a:ext>
                  </a:extLst>
                </a:gridCol>
                <a:gridCol w="1189482">
                  <a:extLst>
                    <a:ext uri="{9D8B030D-6E8A-4147-A177-3AD203B41FA5}">
                      <a16:colId xmlns:a16="http://schemas.microsoft.com/office/drawing/2014/main" val="915506965"/>
                    </a:ext>
                  </a:extLst>
                </a:gridCol>
                <a:gridCol w="1625794">
                  <a:extLst>
                    <a:ext uri="{9D8B030D-6E8A-4147-A177-3AD203B41FA5}">
                      <a16:colId xmlns:a16="http://schemas.microsoft.com/office/drawing/2014/main" val="1394432709"/>
                    </a:ext>
                  </a:extLst>
                </a:gridCol>
                <a:gridCol w="1470872">
                  <a:extLst>
                    <a:ext uri="{9D8B030D-6E8A-4147-A177-3AD203B41FA5}">
                      <a16:colId xmlns:a16="http://schemas.microsoft.com/office/drawing/2014/main" val="3670860010"/>
                    </a:ext>
                  </a:extLst>
                </a:gridCol>
                <a:gridCol w="1250908">
                  <a:extLst>
                    <a:ext uri="{9D8B030D-6E8A-4147-A177-3AD203B41FA5}">
                      <a16:colId xmlns:a16="http://schemas.microsoft.com/office/drawing/2014/main" val="257773833"/>
                    </a:ext>
                  </a:extLst>
                </a:gridCol>
                <a:gridCol w="1593072">
                  <a:extLst>
                    <a:ext uri="{9D8B030D-6E8A-4147-A177-3AD203B41FA5}">
                      <a16:colId xmlns:a16="http://schemas.microsoft.com/office/drawing/2014/main" val="827692871"/>
                    </a:ext>
                  </a:extLst>
                </a:gridCol>
              </a:tblGrid>
              <a:tr h="1133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Data Set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Topic Partition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Producer Batch Size 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Consumer Batch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Records Processed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Total Duration of Produce and Consume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Throughput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Average Batch Processing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Spark Cores and Memory </a:t>
                      </a:r>
                    </a:p>
                  </a:txBody>
                  <a:tcPr marL="74944" marR="74944" marT="37472" marB="37472" anchor="ctr"/>
                </a:tc>
                <a:extLst>
                  <a:ext uri="{0D108BD9-81ED-4DB2-BD59-A6C34878D82A}">
                    <a16:rowId xmlns:a16="http://schemas.microsoft.com/office/drawing/2014/main" val="365898797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69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3996ms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060100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15175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310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4670ms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</a:t>
                      </a: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1500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9766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477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3295ms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803493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60703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93s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650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3141ms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800020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50 %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151759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188s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804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2767ms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158039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338s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896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3019ms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21093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E6A16A0-37A3-B0EF-1162-F2F40FD99250}"/>
              </a:ext>
            </a:extLst>
          </p:cNvPr>
          <p:cNvSpPr txBox="1"/>
          <p:nvPr/>
        </p:nvSpPr>
        <p:spPr>
          <a:xfrm>
            <a:off x="196850" y="6355237"/>
            <a:ext cx="4610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dk1"/>
                </a:solidFill>
                <a:latin typeface="Aptos Display" panose="020B0004020202020204" pitchFamily="34" charset="0"/>
              </a:rPr>
              <a:t>Note: Total Data Size was 300,000 rows.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D36D27-82D7-F155-80F3-798FFEEE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171871"/>
            <a:ext cx="11886381" cy="507580"/>
          </a:xfrm>
        </p:spPr>
        <p:txBody>
          <a:bodyPr>
            <a:normAutofit/>
          </a:bodyPr>
          <a:lstStyle/>
          <a:p>
            <a:r>
              <a:rPr lang="en-US" sz="3000" dirty="0"/>
              <a:t>Batch Size = 10,000       |        Topic Partition = 6</a:t>
            </a:r>
          </a:p>
        </p:txBody>
      </p:sp>
    </p:spTree>
    <p:extLst>
      <p:ext uri="{BB962C8B-B14F-4D97-AF65-F5344CB8AC3E}">
        <p14:creationId xmlns:p14="http://schemas.microsoft.com/office/powerpoint/2010/main" val="3818149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B2B2-F4EC-1084-5BB6-E03EF9E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E7178-9CCC-4F18-19D4-551B217E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7572C12-2B70-38AE-BB1D-66CC14172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899E7E-07A6-A5F4-CCC0-5BAAA12F9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1177C3E0-EC23-7397-E39B-76BB571CB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2280967"/>
              </p:ext>
            </p:extLst>
          </p:nvPr>
        </p:nvGraphicFramePr>
        <p:xfrm>
          <a:off x="117986" y="2851354"/>
          <a:ext cx="11936361" cy="3382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146">
                  <a:extLst>
                    <a:ext uri="{9D8B030D-6E8A-4147-A177-3AD203B41FA5}">
                      <a16:colId xmlns:a16="http://schemas.microsoft.com/office/drawing/2014/main" val="3592393498"/>
                    </a:ext>
                  </a:extLst>
                </a:gridCol>
                <a:gridCol w="1071053">
                  <a:extLst>
                    <a:ext uri="{9D8B030D-6E8A-4147-A177-3AD203B41FA5}">
                      <a16:colId xmlns:a16="http://schemas.microsoft.com/office/drawing/2014/main" val="2861160925"/>
                    </a:ext>
                  </a:extLst>
                </a:gridCol>
                <a:gridCol w="1367124">
                  <a:extLst>
                    <a:ext uri="{9D8B030D-6E8A-4147-A177-3AD203B41FA5}">
                      <a16:colId xmlns:a16="http://schemas.microsoft.com/office/drawing/2014/main" val="2623421419"/>
                    </a:ext>
                  </a:extLst>
                </a:gridCol>
                <a:gridCol w="1307910">
                  <a:extLst>
                    <a:ext uri="{9D8B030D-6E8A-4147-A177-3AD203B41FA5}">
                      <a16:colId xmlns:a16="http://schemas.microsoft.com/office/drawing/2014/main" val="3717049758"/>
                    </a:ext>
                  </a:extLst>
                </a:gridCol>
                <a:gridCol w="1189482">
                  <a:extLst>
                    <a:ext uri="{9D8B030D-6E8A-4147-A177-3AD203B41FA5}">
                      <a16:colId xmlns:a16="http://schemas.microsoft.com/office/drawing/2014/main" val="915506965"/>
                    </a:ext>
                  </a:extLst>
                </a:gridCol>
                <a:gridCol w="1625794">
                  <a:extLst>
                    <a:ext uri="{9D8B030D-6E8A-4147-A177-3AD203B41FA5}">
                      <a16:colId xmlns:a16="http://schemas.microsoft.com/office/drawing/2014/main" val="1394432709"/>
                    </a:ext>
                  </a:extLst>
                </a:gridCol>
                <a:gridCol w="1487055">
                  <a:extLst>
                    <a:ext uri="{9D8B030D-6E8A-4147-A177-3AD203B41FA5}">
                      <a16:colId xmlns:a16="http://schemas.microsoft.com/office/drawing/2014/main" val="3670860010"/>
                    </a:ext>
                  </a:extLst>
                </a:gridCol>
                <a:gridCol w="1234725">
                  <a:extLst>
                    <a:ext uri="{9D8B030D-6E8A-4147-A177-3AD203B41FA5}">
                      <a16:colId xmlns:a16="http://schemas.microsoft.com/office/drawing/2014/main" val="257773833"/>
                    </a:ext>
                  </a:extLst>
                </a:gridCol>
                <a:gridCol w="1593072">
                  <a:extLst>
                    <a:ext uri="{9D8B030D-6E8A-4147-A177-3AD203B41FA5}">
                      <a16:colId xmlns:a16="http://schemas.microsoft.com/office/drawing/2014/main" val="827692871"/>
                    </a:ext>
                  </a:extLst>
                </a:gridCol>
              </a:tblGrid>
              <a:tr h="1133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Data Set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Topic Partition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Producer Batch Size 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Consumer Batch Size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Records Processed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Total Duration of Produce and Consume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Aptos Display" panose="020B0004020202020204" pitchFamily="34" charset="0"/>
                        </a:rPr>
                        <a:t>Throughput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Average Batch Processing</a:t>
                      </a:r>
                    </a:p>
                  </a:txBody>
                  <a:tcPr marL="74944" marR="74944" marT="37472" marB="37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Spark Cores and Memory </a:t>
                      </a:r>
                    </a:p>
                  </a:txBody>
                  <a:tcPr marL="74944" marR="74944" marT="37472" marB="37472" anchor="ctr"/>
                </a:tc>
                <a:extLst>
                  <a:ext uri="{0D108BD9-81ED-4DB2-BD59-A6C34878D82A}">
                    <a16:rowId xmlns:a16="http://schemas.microsoft.com/office/drawing/2014/main" val="365898797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338s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896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3019ms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Aptos Display" panose="020B0004020202020204" pitchFamily="34" charset="0"/>
                        </a:rPr>
                        <a:t>2 Cores and 4 GB Memory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060100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334s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908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3682ms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4 Cores and 4 GB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97662"/>
                  </a:ext>
                </a:extLst>
              </a:tr>
              <a:tr h="7494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303518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328s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923 records/second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3051ms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6 Cores and 4 GB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8034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4C0139-AB69-9A18-7562-50EB88887E92}"/>
              </a:ext>
            </a:extLst>
          </p:cNvPr>
          <p:cNvSpPr txBox="1"/>
          <p:nvPr/>
        </p:nvSpPr>
        <p:spPr>
          <a:xfrm>
            <a:off x="196850" y="6355237"/>
            <a:ext cx="4610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dk1"/>
                </a:solidFill>
                <a:latin typeface="Aptos Display" panose="020B0004020202020204" pitchFamily="34" charset="0"/>
              </a:rPr>
              <a:t>Note: Total Data Size was 300,000 rows.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9F7F62-7D32-F077-AF6C-83322AACA6CE}"/>
              </a:ext>
            </a:extLst>
          </p:cNvPr>
          <p:cNvSpPr txBox="1">
            <a:spLocks/>
          </p:cNvSpPr>
          <p:nvPr/>
        </p:nvSpPr>
        <p:spPr>
          <a:xfrm>
            <a:off x="127819" y="171871"/>
            <a:ext cx="11936361" cy="507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/>
              <a:t>Batch Size = 10,000        |        Topic Partition = 6</a:t>
            </a:r>
            <a:endParaRPr lang="en-US" sz="30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F9905F-ADE5-CFA7-E8E4-7AB47720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1983810"/>
            <a:ext cx="11936361" cy="507580"/>
          </a:xfrm>
        </p:spPr>
        <p:txBody>
          <a:bodyPr>
            <a:normAutofit/>
          </a:bodyPr>
          <a:lstStyle/>
          <a:p>
            <a:r>
              <a:rPr lang="en-US" sz="3000" dirty="0"/>
              <a:t>Varying the Spark Cores and Memory</a:t>
            </a:r>
          </a:p>
        </p:txBody>
      </p:sp>
    </p:spTree>
    <p:extLst>
      <p:ext uri="{BB962C8B-B14F-4D97-AF65-F5344CB8AC3E}">
        <p14:creationId xmlns:p14="http://schemas.microsoft.com/office/powerpoint/2010/main" val="1938221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6A3FF-E57B-4C05-D8F1-D1256922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467D-8B92-DB6E-F872-6250CD8B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11122507" cy="3677920"/>
          </a:xfrm>
        </p:spPr>
        <p:txBody>
          <a:bodyPr>
            <a:noAutofit/>
          </a:bodyPr>
          <a:lstStyle/>
          <a:p>
            <a:r>
              <a:rPr lang="en-US" sz="10800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12726-AC71-4B49-28E5-41C9B1DD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15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604C3-F22B-7E93-3469-B4D212B09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9E0A-3453-B1CE-383E-98392CF3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657" y="171870"/>
            <a:ext cx="6353666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What We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9B6A-1C2B-9156-62EA-6B5373537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The system meets its design goals: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Georgia" panose="02040502050405020303" pitchFamily="18" charset="0"/>
              </a:rPr>
              <a:t>multi-dimensional bias detection,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Georgia" panose="02040502050405020303" pitchFamily="18" charset="0"/>
              </a:rPr>
              <a:t>scalable batch/streaming pipelines,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Georgia" panose="02040502050405020303" pitchFamily="18" charset="0"/>
              </a:rPr>
              <a:t>robust ensemble methodologies, and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Georgia" panose="02040502050405020303" pitchFamily="18" charset="0"/>
              </a:rPr>
              <a:t>modular/extensible architecture.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Provides actionable insights and analytics on Indian news media bias, aligning with original motivation and proposal.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DAA0-A6DC-84BF-18B9-6D22A9E8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12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1BEB4-E253-536F-8418-E63F9EC1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24B7-C06F-0627-FCE9-5349BD34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14" y="171870"/>
            <a:ext cx="11719419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Envisioned Scale of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4D8CE-4578-A428-2F3A-34DB50108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A conservative, evidence-based estimate: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Large/global publishers (top ~1,000): average ~50–200 articles/day → 50,000–200,000/day.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Mid/small publishers and local outlets (tens of thousands): if 20,000 sites average 5–20/day → 100,000–400,000/day.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Automated and niche feeds, blogs, and micro-sites (many thousands): likely add another 100,000–500,000/day.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F0E8-A1BA-8660-69A4-639FBFB2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42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3044-386B-FEE2-CA66-C7C4C0E72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56E2-8756-FA8F-7149-03D94B85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171870"/>
            <a:ext cx="11667102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Envisioned Scale of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6AE68-8998-1C0C-AD37-322C92FD7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More aggressive estimate (including broad blogosphere, social-news posts, and automated micro-updates):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1 million to 3+ million per day is plausible depending on inclusion of short automated items and social-origin reporting.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CD1F-D64C-1D59-98C6-4F1D8A2E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7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83F8-64AB-266F-C806-EE4D6496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AAFD-732F-CCAE-7F99-CAE30ED5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0" y="171870"/>
            <a:ext cx="11965858" cy="1711083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Roadmap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9681D-D95A-8CF3-4CC8-2F527E686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2821857"/>
            <a:ext cx="11965858" cy="36241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Source Expansion: More Indian news outlets and support for regional languages.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Cloud Deployment: Migrate to AWS (EMR, MSK, DynamoDB).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Real-time Alerting: Automated notifications for high-bias content.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Dashboard Visualization: Web-based dashboards for broader user outreach.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Community Feedback and Further Research: Incorporate impact measurements and retrain models.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1FD3C-2D3E-03FF-6541-51EB26EC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0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690FE-9826-B294-40E2-0444B68C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CD7B0-A739-E7DE-AED9-1BF56E3A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11122507" cy="3677920"/>
          </a:xfrm>
        </p:spPr>
        <p:txBody>
          <a:bodyPr>
            <a:noAutofit/>
          </a:bodyPr>
          <a:lstStyle/>
          <a:p>
            <a:r>
              <a:rPr lang="en-US" sz="10800" dirty="0">
                <a:solidFill>
                  <a:schemeClr val="tx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4126932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EBD40D9C-CA72-493B-87C2-C0EB162C667E}" vid="{D0940FF3-4015-4C8A-9B90-9961EFA3BC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DDCC98D-8A5B-4177-9C60-D4A9C8723FD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D41049-A82A-4B5B-8ABC-9F045EF9F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70BEB4-FB24-4E84-B3BB-971EAA4E97D2}">
  <ds:schemaRefs>
    <ds:schemaRef ds:uri="http://schemas.microsoft.com/sharepoint/v3"/>
    <ds:schemaRef ds:uri="http://purl.org/dc/terms/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1783</TotalTime>
  <Words>1528</Words>
  <Application>Microsoft Office PowerPoint</Application>
  <PresentationFormat>Widescreen</PresentationFormat>
  <Paragraphs>379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 Display</vt:lpstr>
      <vt:lpstr>Aptos Light</vt:lpstr>
      <vt:lpstr>Arial</vt:lpstr>
      <vt:lpstr>Calibri</vt:lpstr>
      <vt:lpstr>Georgia</vt:lpstr>
      <vt:lpstr>Walbaum Display</vt:lpstr>
      <vt:lpstr>Shoji</vt:lpstr>
      <vt:lpstr>Bias Detection in News Media</vt:lpstr>
      <vt:lpstr>Project Topic:   Bias Detection in News Media</vt:lpstr>
      <vt:lpstr>Problem  Introduction</vt:lpstr>
      <vt:lpstr>Problem Definition</vt:lpstr>
      <vt:lpstr>Motivation</vt:lpstr>
      <vt:lpstr>Architecture and  DESIGN</vt:lpstr>
      <vt:lpstr>Design Goals</vt:lpstr>
      <vt:lpstr>Key Features</vt:lpstr>
      <vt:lpstr>Data Collection </vt:lpstr>
      <vt:lpstr>Data Flow</vt:lpstr>
      <vt:lpstr>Data Flow Diagram</vt:lpstr>
      <vt:lpstr>Data Flow Diagram</vt:lpstr>
      <vt:lpstr>Methodology</vt:lpstr>
      <vt:lpstr>Technologies</vt:lpstr>
      <vt:lpstr>Sequence Diagram</vt:lpstr>
      <vt:lpstr>Machine Learning Methods</vt:lpstr>
      <vt:lpstr>Machine Learning Methods</vt:lpstr>
      <vt:lpstr>Scalability and Performance Metrics</vt:lpstr>
      <vt:lpstr>Visualizations of Key  Results </vt:lpstr>
      <vt:lpstr>Word Count Analysis Summary  Dashboard</vt:lpstr>
      <vt:lpstr>Bias Detection Summary  Dashboard</vt:lpstr>
      <vt:lpstr>PowerPoint Presentation</vt:lpstr>
      <vt:lpstr>Gender Bias</vt:lpstr>
      <vt:lpstr>Political Bias</vt:lpstr>
      <vt:lpstr>Caste Based Bias</vt:lpstr>
      <vt:lpstr>Religion Based Bias</vt:lpstr>
      <vt:lpstr>Region Based Bias</vt:lpstr>
      <vt:lpstr>Key Performance Benchmarks </vt:lpstr>
      <vt:lpstr>PowerPoint Presentation</vt:lpstr>
      <vt:lpstr>PowerPoint Presentation</vt:lpstr>
      <vt:lpstr>Batch Size = 10,000       |        Topic Partition = 6</vt:lpstr>
      <vt:lpstr>Varying the Spark Cores and Memory</vt:lpstr>
      <vt:lpstr>Summary</vt:lpstr>
      <vt:lpstr>What We Achieved</vt:lpstr>
      <vt:lpstr>Envisioned Scale of Data </vt:lpstr>
      <vt:lpstr>Envisioned Scale of Data </vt:lpstr>
      <vt:lpstr>Roadmap and 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Gupta</dc:creator>
  <cp:lastModifiedBy>Anmol Gupta</cp:lastModifiedBy>
  <cp:revision>10</cp:revision>
  <dcterms:created xsi:type="dcterms:W3CDTF">2025-08-04T19:19:33Z</dcterms:created>
  <dcterms:modified xsi:type="dcterms:W3CDTF">2025-11-30T05:02:56Z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